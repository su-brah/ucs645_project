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oto Serif" panose="02020600060500020200" pitchFamily="18" charset="0"/>
      <p:regular r:id="rId17"/>
      <p:bold r:id="rId18"/>
      <p:italic r:id="rId19"/>
    </p:embeddedFont>
    <p:embeddedFont>
      <p:font typeface="Noto Serif Medium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588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179" y="589478"/>
            <a:ext cx="5287923" cy="70506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98000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Parallel Evolutionary Portfolio Optimization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2517815"/>
            <a:ext cx="7556421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Architecture, Implementation &amp; Results</a:t>
            </a:r>
            <a:endParaRPr lang="en-US" sz="5350" dirty="0"/>
          </a:p>
        </p:txBody>
      </p:sp>
      <p:sp>
        <p:nvSpPr>
          <p:cNvPr id="6" name="Text 3"/>
          <p:cNvSpPr/>
          <p:nvPr/>
        </p:nvSpPr>
        <p:spPr>
          <a:xfrm>
            <a:off x="793790" y="538293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rigorous investigation of Island Model Genetic Algorithms applied to mean-variance portfolio optimization over 10+ years of NIFTY 50 equity data, leveraging two-level OpenMP parallelism to quantify scaling limits and topology trade-offs.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93790" y="6876336"/>
            <a:ext cx="5102185" cy="373142"/>
          </a:xfrm>
          <a:prstGeom prst="roundRect">
            <a:avLst>
              <a:gd name="adj" fmla="val 17872"/>
            </a:avLst>
          </a:prstGeom>
          <a:solidFill>
            <a:srgbClr val="E8E6E3"/>
          </a:solidFill>
          <a:ln/>
        </p:spPr>
      </p:sp>
      <p:sp>
        <p:nvSpPr>
          <p:cNvPr id="8" name="Text 5"/>
          <p:cNvSpPr/>
          <p:nvPr/>
        </p:nvSpPr>
        <p:spPr>
          <a:xfrm>
            <a:off x="912852" y="6935867"/>
            <a:ext cx="48640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C++17 · OPENMP · GENETIC ALGORITHMS · PORTFOLIO THEORY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3916"/>
            <a:ext cx="633424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Introduction &amp; Motivation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2082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Portfolio optimization at scale is computationally demanding. Maximizing the Sharpe ratio under mean-variance constraints is a </a:t>
            </a: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non-convex, NP-hard problem</a:t>
            </a: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— gradient-based methods fail on rugged fitness landscapes with local optima. Genetic algorithms offer a natural fit, but their iterative, population-based nature demands significant compute for realistic datasets.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96690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99768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Computational Cost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4631888"/>
            <a:ext cx="380333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Evaluating Sharpe ratios across large populations and generations requires millions of covariance matrix operations — a burden that grows quadratically with asset count.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996690"/>
            <a:ext cx="4215408" cy="2428875"/>
          </a:xfrm>
          <a:prstGeom prst="roundRect">
            <a:avLst>
              <a:gd name="adj" fmla="val 343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13415" y="4202668"/>
            <a:ext cx="28855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Embarrassingly Parallel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4631888"/>
            <a:ext cx="38034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GA fitness evaluation is inherently parallel: each individual's fitness is independent. This maps naturally to OpenMP task and data parallelism.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996690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27181" y="42026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Scale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4631888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NIFTY 50 equities, 2,597 aligned trading days (Nov 2010 – Apr 2021), ~10.4 years. 20-stock portfolios with daily rebalancing weights.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EB8944-0BA0-B352-E380-248D1440B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1249" y="7289927"/>
            <a:ext cx="1733090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4048"/>
            <a:ext cx="986718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Algorithm Architecture: Island Model GA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7096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Island Model Genetic Algorithm (IMGA) partitions the population into </a:t>
            </a:r>
            <a:r>
              <a:rPr lang="en-US" sz="15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 independent subpopulations</a:t>
            </a: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(islands), each evolving over 200 generations. Periodic migration exchanges elite individuals between islands, maintaining diversity while accelerating convergence toward high-Sharpe portfolios.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3146822"/>
            <a:ext cx="6565106" cy="4128730"/>
          </a:xfrm>
          <a:prstGeom prst="roundRect">
            <a:avLst>
              <a:gd name="adj" fmla="val 3461"/>
            </a:avLst>
          </a:prstGeom>
          <a:solidFill>
            <a:srgbClr val="9C9283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34518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Island Configuration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3853696"/>
            <a:ext cx="6168390" cy="2182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 islands, each with 80 individuals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200 generations per island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Fitness: daily Sharpe ratio via covariance-based mean-variance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Selection: tournament selection with elitism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Crossover &amp; mutation operators on weight vectors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345180"/>
            <a:ext cx="38414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Migration Topologies Compared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64874" y="3878580"/>
            <a:ext cx="3040499" cy="3173730"/>
          </a:xfrm>
          <a:prstGeom prst="roundRect">
            <a:avLst>
              <a:gd name="adj" fmla="val 3609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54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42014" y="3878580"/>
            <a:ext cx="91440" cy="3173730"/>
          </a:xfrm>
          <a:prstGeom prst="roundRect">
            <a:avLst>
              <a:gd name="adj" fmla="val 91163"/>
            </a:avLst>
          </a:prstGeom>
          <a:solidFill>
            <a:srgbClr val="E6DED2"/>
          </a:solidFill>
          <a:ln/>
        </p:spPr>
      </p:sp>
      <p:sp>
        <p:nvSpPr>
          <p:cNvPr id="10" name="Text 8"/>
          <p:cNvSpPr/>
          <p:nvPr/>
        </p:nvSpPr>
        <p:spPr>
          <a:xfrm>
            <a:off x="7854672" y="40997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Ring Topology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854672" y="4608314"/>
            <a:ext cx="252948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Each island exchanges migrants only with immediate neighbors. Low coordination overhead, preserves local search pressure, better cache locality.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803731" y="3878580"/>
            <a:ext cx="3040499" cy="3173730"/>
          </a:xfrm>
          <a:prstGeom prst="roundRect">
            <a:avLst>
              <a:gd name="adj" fmla="val 3609"/>
            </a:avLst>
          </a:prstGeom>
          <a:solidFill>
            <a:srgbClr val="FDFBF7"/>
          </a:solidFill>
          <a:ln w="22860">
            <a:solidFill>
              <a:srgbClr val="E6DED2"/>
            </a:solidFill>
            <a:prstDash val="solid"/>
          </a:ln>
          <a:effectLst>
            <a:outerShdw dist="2540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80871" y="3878580"/>
            <a:ext cx="91440" cy="3173730"/>
          </a:xfrm>
          <a:prstGeom prst="roundRect">
            <a:avLst>
              <a:gd name="adj" fmla="val 91163"/>
            </a:avLst>
          </a:prstGeom>
          <a:solidFill>
            <a:srgbClr val="E6DED2"/>
          </a:solidFill>
          <a:ln/>
        </p:spPr>
      </p:sp>
      <p:sp>
        <p:nvSpPr>
          <p:cNvPr id="14" name="Text 12"/>
          <p:cNvSpPr/>
          <p:nvPr/>
        </p:nvSpPr>
        <p:spPr>
          <a:xfrm>
            <a:off x="11093529" y="40997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Star Topology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1093529" y="4608314"/>
            <a:ext cx="252948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All islands connect to a central hub. Global sorting introduces coordination cost but increases selection pressure and work distribution.</a:t>
            </a:r>
            <a:endParaRPr lang="en-US" sz="15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D28BFF-92B3-A2E0-D14B-16C12A7D5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1249" y="7289927"/>
            <a:ext cx="1733090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39102"/>
            <a:ext cx="3863816" cy="426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Parallelization Strategy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1935123" y="1052989"/>
            <a:ext cx="10760035" cy="36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Two orthogonal levels of parallelism are exploited simultaneously. </a:t>
            </a: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parallelism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distributes islands across threads via </a:t>
            </a:r>
            <a:r>
              <a:rPr lang="en-US" sz="10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while </a:t>
            </a:r>
            <a:r>
              <a:rPr lang="en-US" sz="10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 parallelism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parallelizes fitness evaluation within each island's population. Dynamic thread partitioning balances inter-island and intra-island work.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23" y="1526858"/>
            <a:ext cx="10760035" cy="42764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24511" y="4452228"/>
            <a:ext cx="2360911" cy="2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Task Parallelism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189371" y="4831286"/>
            <a:ext cx="2896051" cy="39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 islands run concurrently via OpenMP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618207" y="3628532"/>
            <a:ext cx="2360911" cy="2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Island Workers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618207" y="4007590"/>
            <a:ext cx="2822600" cy="39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Each island assigned to separate threads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2724347" y="2878287"/>
            <a:ext cx="2360911" cy="2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Parallelism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2189208" y="3257345"/>
            <a:ext cx="2896051" cy="39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5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80 individuals per island evaluated in parallel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618207" y="1891951"/>
            <a:ext cx="2360911" cy="295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Hybrid Execution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618207" y="2271009"/>
            <a:ext cx="2822600" cy="59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Combine #pragma omp parallel for and intra-island threads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935123" y="5908834"/>
            <a:ext cx="10760035" cy="368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diagram illustrates the nested parallel structure: outer-level task parallelism distributes islands, while inner-level data parallelism accelerates fitness computation within each island.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935123" y="6382702"/>
            <a:ext cx="5333167" cy="1407795"/>
          </a:xfrm>
          <a:prstGeom prst="roundRect">
            <a:avLst>
              <a:gd name="adj" fmla="val 4071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086808" y="6534388"/>
            <a:ext cx="1705570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Serial Bottlenecks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086808" y="6803827"/>
            <a:ext cx="5029795" cy="83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Migration synchronization between islands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Global best reduction (convergence tracking)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I/O and logging operations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Thread pool initialization overhead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361992" y="6382702"/>
            <a:ext cx="5333167" cy="1407795"/>
          </a:xfrm>
          <a:prstGeom prst="roundRect">
            <a:avLst>
              <a:gd name="adj" fmla="val 4071"/>
            </a:avLst>
          </a:prstGeom>
          <a:solidFill>
            <a:srgbClr val="FDFBF7"/>
          </a:solidFill>
          <a:ln w="15240">
            <a:solidFill>
              <a:srgbClr val="E6DED2"/>
            </a:solidFill>
            <a:prstDash val="solid"/>
          </a:ln>
          <a:effectLst>
            <a:outerShdw dist="1778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513677" y="6534388"/>
            <a:ext cx="1705570" cy="213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Thread Allocation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13677" y="6803827"/>
            <a:ext cx="5029795" cy="83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omp_set_dynamic(0)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for deterministic counts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Seed strategy: </a:t>
            </a:r>
            <a:r>
              <a:rPr lang="en-US" sz="10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island_index + thread_count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 trials per configuration for statistical rigor</a:t>
            </a:r>
            <a:endParaRPr lang="en-US" sz="10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Reproducible across runs and platforms</a:t>
            </a:r>
            <a:endParaRPr lang="en-US" sz="10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544207-B1ED-A7A7-C479-5962401B9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1249" y="7289927"/>
            <a:ext cx="1733090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DE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153" y="566738"/>
            <a:ext cx="5322094" cy="7096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7344" y="546497"/>
            <a:ext cx="4699635" cy="513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Implementation Details</a:t>
            </a:r>
            <a:endParaRPr lang="en-US" sz="3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344" y="1264087"/>
            <a:ext cx="410885" cy="4108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344" y="1844993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Language &amp; Build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7344" y="2183368"/>
            <a:ext cx="7829312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C++17 with OpenMP 4.5+ for nested parallelism. CMake-based build system ensures portability. Strict compiler flags (</a:t>
            </a:r>
            <a:r>
              <a:rPr lang="en-US" sz="12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-O3 -march=native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) maximize instruction-level parallelism.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7344" y="2936081"/>
            <a:ext cx="410885" cy="41088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7344" y="3516987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Dataset Profile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657344" y="3855363"/>
            <a:ext cx="7829312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20 stocks selected from NIFTY 50 archive. 2,597 aligned trading days from 2010-11-05 to 2021-04-30 (~10.4 years). Daily returns used for Sharpe computation with full covariance matrix.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344" y="4608076"/>
            <a:ext cx="410885" cy="41088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7344" y="5188982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Population &amp; Trials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57344" y="5527357"/>
            <a:ext cx="7829312" cy="480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80 individuals per island × 4 islands = 320 total. 5 independent trials per configuration. Deterministic seeding via </a:t>
            </a:r>
            <a:r>
              <a:rPr lang="en-US" sz="12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island_index + thread_count</a:t>
            </a: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guarantees repeatability.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7344" y="6280071"/>
            <a:ext cx="410885" cy="41088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57344" y="6860977"/>
            <a:ext cx="2054423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Fitness Function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57344" y="7199352"/>
            <a:ext cx="7829312" cy="483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Daily Sharpe ratio with full covariance-based portfolio variance. No simplifying heuristics — realistic risk modeling with daily rebalancing weights.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172AC4-C8C9-5F56-BFE5-5850118C0C8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0938" y="6637258"/>
            <a:ext cx="1272445" cy="615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526137"/>
            <a:ext cx="9492496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Experimental Results: Performance Metrics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9376" y="1414224"/>
            <a:ext cx="131916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Mean ± standard deviation across 5 trials per configuration. Speedup and efficiency computed relative to single-thread baseline for each topology. Best Sharpe values are daily; annualized ≈ </a:t>
            </a:r>
            <a:r>
              <a:rPr lang="en-US" sz="1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1.064</a:t>
            </a: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376" y="2146221"/>
            <a:ext cx="13191649" cy="4380786"/>
          </a:xfrm>
          <a:prstGeom prst="roundRect">
            <a:avLst>
              <a:gd name="adj" fmla="val 17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96" y="2153841"/>
            <a:ext cx="13176409" cy="4850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07137" y="2259211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Topology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9068" y="2259211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63703" y="2259211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Best Sharpe (daily)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26003" y="2259211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Runtime (s)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24699" y="2259211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Speedup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505849" y="2259211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Efficiency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996" y="2638901"/>
            <a:ext cx="13176409" cy="4850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07137" y="2744272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9068" y="2744272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63703" y="2744272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0.06724 ± 0.00001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26003" y="2744272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1.750 ± 0.219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24699" y="2744272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1.00×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505849" y="2744272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6996" y="3123962"/>
            <a:ext cx="13176409" cy="4850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07137" y="3229332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19068" y="3229332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3703" y="3229332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0.06725 ± 0.00001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26003" y="3229332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2.168 ± 0.675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24699" y="3229332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0.81×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505849" y="3229332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0.404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6996" y="3609023"/>
            <a:ext cx="13176409" cy="4850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07137" y="3714393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9068" y="3714393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63703" y="3714393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0.06724 ± 0.00002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26003" y="3714393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1.436 ± 0.088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24699" y="3714393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1.22×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505849" y="3714393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0.305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6996" y="4094083"/>
            <a:ext cx="13176409" cy="4850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07137" y="4199453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019068" y="4199453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63703" y="4199453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0.06724 ± 0.00001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026003" y="4199453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1.248 ± 0.272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24699" y="4199453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1.40×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505849" y="4199453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0.175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26996" y="4579144"/>
            <a:ext cx="13176409" cy="4850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07137" y="4684514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019068" y="4684514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63703" y="4684514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0.06725 ± 0.00001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26003" y="4684514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1.844 ± 0.249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924699" y="4684514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1.00×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2505849" y="4684514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1.000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26996" y="5064204"/>
            <a:ext cx="13176409" cy="4850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07137" y="5169575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Star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019068" y="5169575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2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863703" y="5169575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0.06727 ± 0.00001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026003" y="5169575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1.795 ± 0.279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924699" y="5169575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1.03×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2505849" y="5169575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0.513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26996" y="5549265"/>
            <a:ext cx="13176409" cy="4850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907137" y="5654635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Star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019068" y="5654635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863703" y="5654635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0.06727 ± 0.00001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026003" y="5654635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1.488 ± 0.176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0924699" y="5654635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1.24×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2505849" y="5654635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0.310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26996" y="6034326"/>
            <a:ext cx="13176409" cy="4850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07137" y="6139696"/>
            <a:ext cx="1744742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Star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3019068" y="6139696"/>
            <a:ext cx="14774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8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863703" y="6139696"/>
            <a:ext cx="279511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0.06726 ± 0.00001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8026003" y="6139696"/>
            <a:ext cx="253150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1.562 ± 0.674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0924699" y="6139696"/>
            <a:ext cx="121396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1.18×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2505849" y="6139696"/>
            <a:ext cx="1217771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0.148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719376" y="6710363"/>
            <a:ext cx="13191649" cy="993100"/>
          </a:xfrm>
          <a:prstGeom prst="roundRect">
            <a:avLst>
              <a:gd name="adj" fmla="val 7607"/>
            </a:avLst>
          </a:prstGeom>
          <a:solidFill>
            <a:srgbClr val="B6D6FC"/>
          </a:solidFill>
          <a:ln/>
        </p:spPr>
      </p:sp>
      <p:pic>
        <p:nvPicPr>
          <p:cNvPr id="6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" y="6983373"/>
            <a:ext cx="224790" cy="179784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1303734" y="6918246"/>
            <a:ext cx="124275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Key observation:</a:t>
            </a:r>
            <a:r>
              <a:rPr lang="en-US" sz="14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Both topologies converge to Sharpe ≈ 0.0672 (daily). Best speedup: 1.40× at 8 threads (Ring) and 1.24× at 4 threads (Star). Efficiency floor of 17–18% at 8 threads reflects serial bottlenecks in migration and I/O.</a:t>
            </a:r>
            <a:endParaRPr lang="en-US" sz="14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4032016-E1C8-7214-BA94-9E479F02F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1249" y="7703463"/>
            <a:ext cx="1733090" cy="4438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509" y="383143"/>
            <a:ext cx="7582019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Convergence Analysis: Generation-wise Best Sharpe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2546509" y="908566"/>
            <a:ext cx="9537383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Convergence curves track the best Sharpe ratio found across all islands at each generation. Both Ring and Star topologies exhibit smooth, reproducible convergence with negligible variance by generation 200 — confirming algorithmic stability across random seeds.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546509" y="1302901"/>
            <a:ext cx="817840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849" y="1339453"/>
            <a:ext cx="91440" cy="91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21769" y="1325761"/>
            <a:ext cx="589240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Star Topology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425309" y="1302901"/>
            <a:ext cx="838795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649" y="1339453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00569" y="1325761"/>
            <a:ext cx="610195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Ring Topology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929" y="1509118"/>
            <a:ext cx="9537383" cy="33974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546509" y="6787039"/>
            <a:ext cx="3117771" cy="399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0.0435</a:t>
            </a:r>
            <a:endParaRPr lang="en-US" sz="3100" dirty="0"/>
          </a:p>
        </p:txBody>
      </p:sp>
      <p:sp>
        <p:nvSpPr>
          <p:cNvPr id="12" name="Text 7"/>
          <p:cNvSpPr/>
          <p:nvPr/>
        </p:nvSpPr>
        <p:spPr>
          <a:xfrm>
            <a:off x="3349466" y="7301746"/>
            <a:ext cx="1511737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 1 Mean Sharpe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2546509" y="7534870"/>
            <a:ext cx="3117771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 initial variance (std ≈ 0.0018) reflects random population initialization.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5756315" y="6787039"/>
            <a:ext cx="3117771" cy="399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0.0661</a:t>
            </a:r>
            <a:endParaRPr lang="en-US" sz="3100" dirty="0"/>
          </a:p>
        </p:txBody>
      </p:sp>
      <p:sp>
        <p:nvSpPr>
          <p:cNvPr id="15" name="Text 10"/>
          <p:cNvSpPr/>
          <p:nvPr/>
        </p:nvSpPr>
        <p:spPr>
          <a:xfrm>
            <a:off x="6559272" y="7301746"/>
            <a:ext cx="1511737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 50 Mean Sharpe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756315" y="7534870"/>
            <a:ext cx="3117771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Converging — std drops to ≈ 0.0003. Migration effects become visible.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966121" y="6787039"/>
            <a:ext cx="3117771" cy="399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0.0672</a:t>
            </a:r>
            <a:endParaRPr lang="en-US" sz="3100" dirty="0"/>
          </a:p>
        </p:txBody>
      </p:sp>
      <p:sp>
        <p:nvSpPr>
          <p:cNvPr id="18" name="Text 13"/>
          <p:cNvSpPr/>
          <p:nvPr/>
        </p:nvSpPr>
        <p:spPr>
          <a:xfrm>
            <a:off x="9747885" y="7301746"/>
            <a:ext cx="1554123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Gen 200 Final Sharpe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966121" y="7534870"/>
            <a:ext cx="3117771" cy="31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Plateau reached — std ≈ 0.00001. Ring and Star curves nearly identical.</a:t>
            </a: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91C6F7-2143-1BB1-E2C4-67A3470B95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1249" y="7289927"/>
            <a:ext cx="1733090" cy="85737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C1326EB-300B-DA3C-9E6D-930047323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536" y="1689042"/>
            <a:ext cx="9595963" cy="4265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0CB1A1-BDC7-233A-2E81-F7148FB86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17" y="2251693"/>
            <a:ext cx="11325225" cy="359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EF604BA-B09A-F318-F4B7-F9C45A138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18" y="1220033"/>
            <a:ext cx="11544176" cy="5451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22459"/>
            <a:ext cx="12386905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Performance Analysis: Why Speedup Plateaus at ~1.4×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56642" y="1574125"/>
            <a:ext cx="13117116" cy="66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Amdahl's Law governs the ceiling. With ~20–30% serial fraction (migration, sorting, I/O), even 8 threads cannot exceed ~1.4× speedup. The 2-thread Ring anomaly (slowdown) reveals stochastic GA variation at low thread counts.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20435" y="2441019"/>
            <a:ext cx="6600230" cy="5166003"/>
          </a:xfrm>
          <a:prstGeom prst="roundRect">
            <a:avLst>
              <a:gd name="adj" fmla="val 2637"/>
            </a:avLst>
          </a:prstGeom>
          <a:solidFill>
            <a:srgbClr val="9C9283"/>
          </a:solidFill>
          <a:ln/>
        </p:spPr>
      </p:sp>
      <p:sp>
        <p:nvSpPr>
          <p:cNvPr id="5" name="Text 3"/>
          <p:cNvSpPr/>
          <p:nvPr/>
        </p:nvSpPr>
        <p:spPr>
          <a:xfrm>
            <a:off x="809506" y="2621280"/>
            <a:ext cx="3317081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Serial Bottleneck Breakdown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09506" y="3097054"/>
            <a:ext cx="6222087" cy="2321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Migration &amp; synchronization:</a:t>
            </a: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~10–15% of wall time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Global best reduction:</a:t>
            </a: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convergence tracking serial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I/O &amp; logging:</a:t>
            </a: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file writes not parallelized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Thread overhead:</a:t>
            </a: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context switching at low population-to-thread ratios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Memory bandwidth:</a:t>
            </a: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contention evaluating ~320 individuals in parallel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553563" y="2621280"/>
            <a:ext cx="2708077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2-Thread Ring Anomaly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553563" y="3097054"/>
            <a:ext cx="6327815" cy="1182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Ring at 2 threads showed </a:t>
            </a:r>
            <a:r>
              <a:rPr lang="en-US" sz="14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slowdown</a:t>
            </a: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(speedup 0.81×, runtime 2.168s ± 0.675s). High variance stems from stochastic GA behavior — different seeds explore the fitness landscape differently, and some trials converge slower at low thread counts.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53563" y="4481870"/>
            <a:ext cx="6327815" cy="1075253"/>
          </a:xfrm>
          <a:prstGeom prst="roundRect">
            <a:avLst>
              <a:gd name="adj" fmla="val 7389"/>
            </a:avLst>
          </a:prstGeom>
          <a:solidFill>
            <a:srgbClr val="DDDAD4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634" y="4773692"/>
            <a:ext cx="236458" cy="18907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68164" y="4709398"/>
            <a:ext cx="5524143" cy="591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Mitigated by averaging 5 trials. Demonstrates why statistical rigor is essential in evolutionary computation experiments.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3563" y="5759887"/>
            <a:ext cx="2649379" cy="29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Ring vs. Star Trade-offs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553563" y="6235660"/>
            <a:ext cx="6327815" cy="1308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Ring: 6.7% faster at 1 thread (lower coordination cost)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Star: 3% faster at 2 threads (better work distribution)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Both reach identical final Sharpe → topology does not affect solution quality</a:t>
            </a:r>
            <a:endParaRPr lang="en-US" sz="14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F8E78A-B08D-EEBD-B68E-91E769465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1249" y="7289927"/>
            <a:ext cx="1733090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0324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Takeaways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65723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204" y="269444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2725460"/>
            <a:ext cx="459366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Two-Level OpenMP Parallelism Works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3154680"/>
            <a:ext cx="575250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Task parallelism (islands) + data parallelism (fitness eval) effectively utilized multi-core hardware, but Amdahl's Law limits gains to ~1.4× at 8 threads given ~20–30% serial fraction.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265723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13558" y="269444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83987" y="2725460"/>
            <a:ext cx="42712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Topology Affects Speed, Not Quality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83987" y="3154680"/>
            <a:ext cx="575262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Ring and Star converge to identical Sharpe ≈ 0.0672. Migration strategy influences convergence speed slightly but not final portfolio quality — both discover the same efficient frontier point.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82167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204" y="485888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889897"/>
            <a:ext cx="40917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Statistical Rigor Is Non-Negotiable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5319117"/>
            <a:ext cx="575250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5-trial averaging exposed the 2-thread Ring slowdown (high std). Deterministic seeding via </a:t>
            </a:r>
            <a:r>
              <a:rPr lang="en-US" sz="15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island_index + thread_count</a:t>
            </a: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ensures reproducibility across platforms and runs.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39144" y="4821674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E6DED2">
              <a:alpha val="50000"/>
            </a:srgbClr>
          </a:solidFill>
          <a:ln w="7620">
            <a:solidFill>
              <a:srgbClr val="CCC4B8"/>
            </a:solidFill>
            <a:prstDash val="solid"/>
          </a:ln>
          <a:effectLst>
            <a:outerShdw dist="2540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13558" y="4858881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83987" y="4889897"/>
            <a:ext cx="320432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Robust Backtest Validation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83987" y="5319117"/>
            <a:ext cx="5752624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10+ year historical backtest with daily rebalancing weights on 2,597 trading days. Covariance-based fitness provides realistic risk modeling — discovered portfolio achieves ~67bps daily Sharpe (~1.06× annualized).</a:t>
            </a:r>
            <a:endParaRPr lang="en-US" sz="15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3FAC7E2-BD35-595B-F7A3-3815A773A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1249" y="7289927"/>
            <a:ext cx="1733090" cy="857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65440"/>
            <a:ext cx="8730734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Technical Highlights &amp; HPC Best Practices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4611" y="1511975"/>
            <a:ext cx="13241179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work demonstrates that rigorous HPC methodology — reproducible experiments, parallel metrics, and realistic workloads — yields trustworthy insights for evolutionary portfolio optimization.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4611" y="2203847"/>
            <a:ext cx="6544628" cy="2179082"/>
          </a:xfrm>
          <a:prstGeom prst="roundRect">
            <a:avLst>
              <a:gd name="adj" fmla="val 3347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5824" y="2385060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E6DED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056" y="2528292"/>
            <a:ext cx="234434" cy="2344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5824" y="305788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Parallel Metrics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75824" y="3420189"/>
            <a:ext cx="6182201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Speedup and efficiency computed per HPC best practices. Efficiency floor of 17–18% at 8 threads quantifies the serial bottleneck precisely.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91162" y="2203847"/>
            <a:ext cx="6544628" cy="2179082"/>
          </a:xfrm>
          <a:prstGeom prst="roundRect">
            <a:avLst>
              <a:gd name="adj" fmla="val 3347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572375" y="2385060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E6DED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5607" y="2528292"/>
            <a:ext cx="234434" cy="2344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72375" y="3057882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Covariance Fitness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72375" y="3420189"/>
            <a:ext cx="6182201" cy="78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 covariance-based mean-variance fitness — not diagonal approximations or simpler heuristics. Captures realistic cross-asset risk correlations.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94611" y="4534853"/>
            <a:ext cx="6544628" cy="1918573"/>
          </a:xfrm>
          <a:prstGeom prst="roundRect">
            <a:avLst>
              <a:gd name="adj" fmla="val 3802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75824" y="4716066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E6DED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9056" y="4859298"/>
            <a:ext cx="234434" cy="2344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5824" y="538888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Historical Backtest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75824" y="5751195"/>
            <a:ext cx="6182201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10.4 years of NIFTY 50 data (2,597 trading days). Daily rebalancing weights tested against real market conditions including multiple volatility regimes.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7391162" y="4534853"/>
            <a:ext cx="6544628" cy="1918573"/>
          </a:xfrm>
          <a:prstGeom prst="roundRect">
            <a:avLst>
              <a:gd name="adj" fmla="val 3802"/>
            </a:avLst>
          </a:prstGeom>
          <a:solidFill>
            <a:srgbClr val="F2EDE5"/>
          </a:solidFill>
          <a:ln w="7620">
            <a:solidFill>
              <a:srgbClr val="E6DED2"/>
            </a:solidFill>
            <a:prstDash val="solid"/>
          </a:ln>
          <a:effectLst>
            <a:outerShdw dist="2286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72375" y="4716066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E6DED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15607" y="4859298"/>
            <a:ext cx="234434" cy="2344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2375" y="5388888"/>
            <a:ext cx="3126700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Deterministic Reproducibility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72375" y="5751195"/>
            <a:ext cx="6182201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omp_set_dynamic(0)</a:t>
            </a: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ensures fixed thread counts. Seed strategy </a:t>
            </a:r>
            <a:r>
              <a:rPr lang="en-US" sz="1350" dirty="0">
                <a:solidFill>
                  <a:srgbClr val="4C4C4C"/>
                </a:solidFill>
                <a:highlight>
                  <a:srgbClr val="F0EE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island_index + thread_count</a:t>
            </a:r>
            <a:r>
              <a:rPr lang="en-US" sz="13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guarantees identical runs across platforms.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94611" y="6624280"/>
            <a:ext cx="13241179" cy="939760"/>
          </a:xfrm>
          <a:prstGeom prst="roundRect">
            <a:avLst>
              <a:gd name="adj" fmla="val 7761"/>
            </a:avLst>
          </a:prstGeom>
          <a:solidFill>
            <a:srgbClr val="B6FCB8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8204" y="6879788"/>
            <a:ext cx="217051" cy="1735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58848" y="6819543"/>
            <a:ext cx="12503348" cy="52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Efficient portfolio discovered:</a:t>
            </a:r>
            <a:r>
              <a:rPr lang="en-US" sz="13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~67bps daily Sharpe ratio (≈1.06× annualized) on a 20-stock NIFTY 50 portfolio — robust across 10+ years of market headwinds and validated through 5-trial statistical averaging.</a:t>
            </a:r>
            <a:endParaRPr lang="en-US" sz="13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2FBF5ED-BA37-7891-3A33-3C09AD78B6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11249" y="7734893"/>
            <a:ext cx="1733090" cy="4124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1442</Words>
  <Application>Microsoft Office PowerPoint</Application>
  <PresentationFormat>Custom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Serif Medium</vt:lpstr>
      <vt:lpstr>-apple-system, BlinkMacSystemFont, Segoe UI, Roboto, Helvetica Neue, Arial, sans-serif Medium</vt:lpstr>
      <vt:lpstr>Arial</vt:lpstr>
      <vt:lpstr>Noto Serif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Subhendu Sharma</cp:lastModifiedBy>
  <cp:revision>3</cp:revision>
  <dcterms:created xsi:type="dcterms:W3CDTF">2026-04-28T12:15:51Z</dcterms:created>
  <dcterms:modified xsi:type="dcterms:W3CDTF">2026-04-28T13:09:42Z</dcterms:modified>
</cp:coreProperties>
</file>